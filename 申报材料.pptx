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23f93c1f6542c5" /><Relationship Type="http://schemas.openxmlformats.org/officeDocument/2006/relationships/extended-properties" Target="/docProps/app.xml" Id="Rbadba8bc6b924a8b" /><Relationship Type="http://schemas.openxmlformats.org/officeDocument/2006/relationships/officeDocument" Target="/ppt/presentation.xml" Id="R521315767e3540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fddad110c04c56"/>
  </p:sldMasterIdLst>
  <p:notesMasterIdLst>
    <p:notesMasterId xmlns:r="http://schemas.openxmlformats.org/officeDocument/2006/relationships" r:id="Re39e3c26a0424e8c"/>
  </p:notesMasterIdLst>
  <p:sldIdLst>
    <p:sldId xmlns:r="http://schemas.openxmlformats.org/officeDocument/2006/relationships" id="256" r:id="R0dbc23c8567b4df4"/>
    <p:sldId xmlns:r="http://schemas.openxmlformats.org/officeDocument/2006/relationships" id="257" r:id="Ra9c8016625b54b9c"/>
    <p:sldId xmlns:r="http://schemas.openxmlformats.org/officeDocument/2006/relationships" id="258" r:id="R86e6568912354d5e"/>
    <p:sldId xmlns:r="http://schemas.openxmlformats.org/officeDocument/2006/relationships" id="259" r:id="R134599b2110a422e"/>
    <p:sldId xmlns:r="http://schemas.openxmlformats.org/officeDocument/2006/relationships" id="260" r:id="R5c60c8272456499f"/>
    <p:sldId xmlns:r="http://schemas.openxmlformats.org/officeDocument/2006/relationships" id="261" r:id="R4b6fe79bcfb04623"/>
    <p:sldId xmlns:r="http://schemas.openxmlformats.org/officeDocument/2006/relationships" id="262" r:id="R3c353367816b48df"/>
    <p:sldId xmlns:r="http://schemas.openxmlformats.org/officeDocument/2006/relationships" id="263" r:id="R07c1c94ca70b43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30f5ed05f447cb" /><Relationship Type="http://schemas.openxmlformats.org/officeDocument/2006/relationships/slideMaster" Target="/ppt/slideMasters/slideMaster1.xml" Id="R9afddad110c04c56" /><Relationship Type="http://schemas.openxmlformats.org/officeDocument/2006/relationships/notesMaster" Target="/ppt/notesMasters/notesMaster1.xml" Id="Re39e3c26a0424e8c" /><Relationship Type="http://schemas.openxmlformats.org/officeDocument/2006/relationships/presProps" Target="/ppt/presProps.xml" Id="Rf54f3d8643af46ed" /><Relationship Type="http://schemas.openxmlformats.org/officeDocument/2006/relationships/tableStyles" Target="/ppt/tableStyles.xml" Id="R337c17bd613b4452" /><Relationship Type="http://schemas.openxmlformats.org/officeDocument/2006/relationships/slide" Target="/ppt/slides/slide1.xml" Id="R0dbc23c8567b4df4" /><Relationship Type="http://schemas.openxmlformats.org/officeDocument/2006/relationships/slide" Target="/ppt/slides/slide2.xml" Id="Ra9c8016625b54b9c" /><Relationship Type="http://schemas.openxmlformats.org/officeDocument/2006/relationships/slide" Target="/ppt/slides/slide3.xml" Id="R86e6568912354d5e" /><Relationship Type="http://schemas.openxmlformats.org/officeDocument/2006/relationships/slide" Target="/ppt/slides/slide4.xml" Id="R134599b2110a422e" /><Relationship Type="http://schemas.openxmlformats.org/officeDocument/2006/relationships/slide" Target="/ppt/slides/slide5.xml" Id="R5c60c8272456499f" /><Relationship Type="http://schemas.openxmlformats.org/officeDocument/2006/relationships/slide" Target="/ppt/slides/slide6.xml" Id="R4b6fe79bcfb04623" /><Relationship Type="http://schemas.openxmlformats.org/officeDocument/2006/relationships/slide" Target="/ppt/slides/slide7.xml" Id="R3c353367816b48df" /><Relationship Type="http://schemas.openxmlformats.org/officeDocument/2006/relationships/slide" Target="/ppt/slides/slide8.xml" Id="R07c1c94ca70b43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d5ac3d935040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a6ce6e58354bf7" /><Relationship Type="http://schemas.openxmlformats.org/officeDocument/2006/relationships/notesMaster" Target="/ppt/notesMasters/notesMaster1.xml" Id="R6536d98783324b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9f569a46964ab2" /><Relationship Type="http://schemas.openxmlformats.org/officeDocument/2006/relationships/notesMaster" Target="/ppt/notesMasters/notesMaster1.xml" Id="R4f6b5dec542b41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4bb0c41acd4a3f" /><Relationship Type="http://schemas.openxmlformats.org/officeDocument/2006/relationships/notesMaster" Target="/ppt/notesMasters/notesMaster1.xml" Id="Re45fc8fcec2047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02b38534a3411d" /><Relationship Type="http://schemas.openxmlformats.org/officeDocument/2006/relationships/notesMaster" Target="/ppt/notesMasters/notesMaster1.xml" Id="Re4c8a9856b4a43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812316515345a0" /><Relationship Type="http://schemas.openxmlformats.org/officeDocument/2006/relationships/notesMaster" Target="/ppt/notesMasters/notesMaster1.xml" Id="Re8be084e72a042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8bb19c9a89493b" /><Relationship Type="http://schemas.openxmlformats.org/officeDocument/2006/relationships/notesMaster" Target="/ppt/notesMasters/notesMaster1.xml" Id="Ra80628039d9548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2d00f7c9d74c6b" /><Relationship Type="http://schemas.openxmlformats.org/officeDocument/2006/relationships/notesMaster" Target="/ppt/notesMasters/notesMaster1.xml" Id="R51bf12fbd2164e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020e9487164432" /><Relationship Type="http://schemas.openxmlformats.org/officeDocument/2006/relationships/notesMaster" Target="/ppt/notesMasters/notesMaster1.xml" Id="R45ab4156330f4b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模板：腾讯文档《月度星光应用&amp;月度应用之星申报模板》，https://docs.qq.com/slide/DVVhuQ01DVVpXeHhQ</a:t>
            </a:r>
          </a:p>
          <a:p xmlns:a="http://schemas.openxmlformats.org/drawingml/2006/main">
            <a:r>
              <a:t>项目名称、定位：README.md；packaging/store/0.1.3/listing.zh-CN.json。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目录结构沿用腾讯文档模板。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团队姓名、学校、专业、指导老师、手机和微信：由用户在当前会话提供并明确用于公开提交到 GitHub main。</a:t>
            </a:r>
          </a:p>
          <a:p xmlns:a="http://schemas.openxmlformats.org/drawingml/2006/main">
            <a:r>
              <a:t>软件定位与原 GUI 依赖：README.md、docs/DEPENDENCY_AUDIT.md、docs/M1_ARKUI.md。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核心功能与真机结果：docs/PR23_0_1_3_DEVICE_RETEST_2026-10-21.md。</a:t>
            </a:r>
          </a:p>
          <a:p xmlns:a="http://schemas.openxmlformats.org/drawingml/2006/main">
            <a:r>
              <a:t>截图：docs/evidence/a-rename-013-60fca45b/result-artifacts.jpeg（真实设备截图）。</a:t>
            </a:r>
          </a:p>
          <a:p xmlns:a="http://schemas.openxmlformats.org/drawingml/2006/main">
            <a:r>
              <a:t>只声明已适配 PbSO4 样例，非原版 GSAS-II 全功能。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架构：docs/CORE_API.md、docs/RUNTIME_PACKAGING.md、docs/PHASE3_NAPI_CORE.md。</a:t>
            </a:r>
          </a:p>
          <a:p xmlns:a="http://schemas.openxmlformats.org/drawingml/2006/main">
            <a:r>
              <a:t>12/12 页面数值比较及容差：docs/PR23_0_1_3_DEVICE_RETEST_2026-10-21.md；非导出 JSON 全精度比较。</a:t>
            </a:r>
          </a:p>
          <a:p xmlns:a="http://schemas.openxmlformats.org/drawingml/2006/main">
            <a:r>
              <a:t>原生扩展、同包技术审查：docs/PR23_0_1_3_TECHNICAL_RELEASE_REVIEW_2026-10-21.md。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定位、定价、边界：packaging/store/0.1.3/listing.zh-CN.json、packaging/store/0.1.3/submission-status.json。</a:t>
            </a:r>
          </a:p>
          <a:p xmlns:a="http://schemas.openxmlformats.org/drawingml/2006/main">
            <a:r>
              <a:t>真机范围及未验证边界：docs/PR23_0_1_3_TECHNICAL_RELEASE_REVIEW_2026-10-21.md。</a:t>
            </a:r>
          </a:p>
          <a:p xmlns:a="http://schemas.openxmlformats.org/drawingml/2006/main">
            <a:r>
              <a:t>用户规模/商业收入无公开统计，因此不作数值声称。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8.76秒、12/12、导出与名称截图：docs/PR23_0_1_3_DEVICE_RETEST_2026-10-21.md。</a:t>
            </a:r>
          </a:p>
          <a:p xmlns:a="http://schemas.openxmlformats.org/drawingml/2006/main">
            <a:r>
              <a:t>同包签名/源/载荷/SBOM：docs/PR23_0_1_3_TECHNICAL_RELEASE_REVIEW_2026-10-21.md。</a:t>
            </a:r>
          </a:p>
          <a:p xmlns:a="http://schemas.openxmlformats.org/drawingml/2006/main">
            <a:r>
              <a:t>截图：docs/evidence/a-rename-013-60fca45b/launcher-name.jpeg。</a:t>
            </a:r>
          </a:p>
          <a:p xmlns:a="http://schemas.openxmlformats.org/drawingml/2006/main">
            <a:r>
              <a:t>模板第7页为可选个人奖申报，本团队本次申报应用奖，故用于工程证据，不虚构个人奖材料。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代码与材料仓库：https://github.com/xiaotaop/ohos_gsas-ii。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40710a30042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ef9432df54d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f5cee9bd3b49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9fb4fa723b44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c7227a55c54f2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777649f0e841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2E4291-C296-43B6-88C1-3DB3769A32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61565C6-B91B-4949-B07C-713D7AC122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0D7D90-0549-40CA-AD38-5A388D4750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D45323-67B9-4305-981D-D7A86EF54A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313DF32-EAF9-4873-9FFA-68B6779FB7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1B12332-8117-42FB-9383-870E182A25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A04D9C-965E-40B0-835E-B959060350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BB46661-67A6-4B91-BC2B-7FB5A9B9E6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8B44FE-3F90-4EC0-985B-66A8CBD83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FDC8CB-3C4D-41EF-A140-6781296D7B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0db1afcae54ff0" /><Relationship Type="http://schemas.openxmlformats.org/officeDocument/2006/relationships/slideLayout" Target="/ppt/slideLayouts/slideLayout1.xml" Id="R0811d9be44f945c6" /><Relationship Type="http://schemas.openxmlformats.org/officeDocument/2006/relationships/slideLayout" Target="/ppt/slideLayouts/slideLayout2.xml" Id="R1f677cd4cd5340b9" /><Relationship Type="http://schemas.openxmlformats.org/officeDocument/2006/relationships/slideLayout" Target="/ppt/slideLayouts/slideLayout3.xml" Id="Rc473e83b3b304fbe" /><Relationship Type="http://schemas.openxmlformats.org/officeDocument/2006/relationships/slideLayout" Target="/ppt/slideLayouts/slideLayout4.xml" Id="Rb9e4ff1debaf464e" /><Relationship Type="http://schemas.openxmlformats.org/officeDocument/2006/relationships/slideLayout" Target="/ppt/slideLayouts/slideLayout5.xml" Id="Rc78b16182b004611" /><Relationship Type="http://schemas.openxmlformats.org/officeDocument/2006/relationships/slideLayout" Target="/ppt/slideLayouts/slideLayout6.xml" Id="R8068d2cbe64a43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11d9be44f945c6"/>
    <p:sldLayoutId xmlns:r="http://schemas.openxmlformats.org/officeDocument/2006/relationships" id="2147483650" r:id="R1f677cd4cd5340b9"/>
    <p:sldLayoutId xmlns:r="http://schemas.openxmlformats.org/officeDocument/2006/relationships" id="2147483651" r:id="Rc473e83b3b304fbe"/>
    <p:sldLayoutId xmlns:r="http://schemas.openxmlformats.org/officeDocument/2006/relationships" id="2147483652" r:id="Rb9e4ff1debaf464e"/>
    <p:sldLayoutId xmlns:r="http://schemas.openxmlformats.org/officeDocument/2006/relationships" id="2147483653" r:id="Rc78b16182b004611"/>
    <p:sldLayoutId xmlns:r="http://schemas.openxmlformats.org/officeDocument/2006/relationships" id="2147483654" r:id="R8068d2cbe64a43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d10e766c8d4d0e" /><Relationship Type="http://schemas.openxmlformats.org/officeDocument/2006/relationships/notesSlide" Target="/ppt/notesSlides/notesSlide1.xml" Id="R705be675873d4a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b5953d45324f55" /><Relationship Type="http://schemas.openxmlformats.org/officeDocument/2006/relationships/notesSlide" Target="/ppt/notesSlides/notesSlide2.xml" Id="Rcb9203c36c2e4c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583cebbe7646e3" /><Relationship Type="http://schemas.openxmlformats.org/officeDocument/2006/relationships/notesSlide" Target="/ppt/notesSlides/notesSlide3.xml" Id="R3bf0a81e554e4f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0e28aeaa524904" /><Relationship Type="http://schemas.openxmlformats.org/officeDocument/2006/relationships/image" Target="/ppt/media/image.jpeg" Id="R8cc36b00539e469b" /><Relationship Type="http://schemas.openxmlformats.org/officeDocument/2006/relationships/notesSlide" Target="/ppt/notesSlides/notesSlide4.xml" Id="Rfbf3e664780b42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a296efe6384e33" /><Relationship Type="http://schemas.openxmlformats.org/officeDocument/2006/relationships/notesSlide" Target="/ppt/notesSlides/notesSlide5.xml" Id="Rae9f544e253e4e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33eafe73234d1c" /><Relationship Type="http://schemas.openxmlformats.org/officeDocument/2006/relationships/notesSlide" Target="/ppt/notesSlides/notesSlide6.xml" Id="Rcb9e3648146642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0ba81f8e0c4945" /><Relationship Type="http://schemas.openxmlformats.org/officeDocument/2006/relationships/image" Target="/ppt/media/image2.jpeg" Id="Rd00fdea846834da4" /><Relationship Type="http://schemas.openxmlformats.org/officeDocument/2006/relationships/notesSlide" Target="/ppt/notesSlides/notesSlide7.xml" Id="R7d869c72d9b94f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a05d417e204f11" /><Relationship Type="http://schemas.openxmlformats.org/officeDocument/2006/relationships/notesSlide" Target="/ppt/notesSlides/notesSlide8.xml" Id="Rf1e57d0e41c946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7ABC0-03ED-493F-8E6D-B98A9F59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29125"/>
            <a:ext cx="3476625" cy="242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405CB-EDBA-4675-A8DE-A0A6777D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714500"/>
            <a:ext cx="22669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6B0E4-C222-49FF-A6F2-05C9CADD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1885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rPr>
              <a:t>开放原子开源基金会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41482-DE6F-4B52-8EF0-4A093E28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"/>
            <a:ext cx="1885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OPENATOM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58BB6-873A-44F2-8346-D665B1F9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76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87514-D692-4138-A89A-5E1F334C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762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rPr>
              <a:t>OpenHarmony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662A7-4C95-4438-B303-4839FBC9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621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3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3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3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3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3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3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3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3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3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43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月度激励 · 星光应用申报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F6346-36F7-42AA-9DAE-01A6427A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28925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300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300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300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300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300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300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300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300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300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300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300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晶衍精析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71E84-6FA2-46E6-B98B-E07E70FE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62350"/>
            <a:ext cx="790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基于 GSAS-II 的 HarmonyOS PC 粉末衍射精修应用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E64D9-EC48-4AE3-B9DD-1E98528C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28637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申报团队：南京大学软件工程项目组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7CB9C-CC16-41D4-9906-1D5FFCE5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6102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队长：潘孝涛  ·  2026 年 10 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3C9D6-28AC-4A36-AAF9-9E12351F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2865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6000"/>
              </a:lnSpc>
              <a:buNone/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智能终端操作系统根社区</a:t>
            </a:r>
          </a:p>
        </p:txBody>
      </p:sp>
    </p:spTree>
    <p:extLst>
      <p:ext uri="{BB962C8B-B14F-4D97-AF65-F5344CB8AC3E}">
        <p14:creationId xmlns:p14="http://schemas.microsoft.com/office/powerpoint/2010/main" val="17133199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E7437-26D5-4F01-B71F-37639320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1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AC960-4F97-43E6-A73A-7869EA15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5A7B0-4087-4A55-BFBF-2A016B5E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9621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6000"/>
              </a:lnSpc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B423E-E0D5-4D06-83E8-DA537696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952625"/>
            <a:ext cx="69151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A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2BE68-6CA4-49B6-A9DE-50855CAB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019300"/>
            <a:ext cx="609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创作简介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2A86D-5BE9-435F-BB73-B041A772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8575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6000"/>
              </a:lnSpc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F1EA6-7F65-4D1C-80B4-743B7581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47975"/>
            <a:ext cx="69151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A9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53C3D-1937-48D7-B879-8FEE00CF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914650"/>
            <a:ext cx="609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应用核心功能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DB11F-B423-4780-8CE5-8E3FF8A2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7528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6000"/>
              </a:lnSpc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C7A93-A5FF-4C29-ADAF-EECC911F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43325"/>
            <a:ext cx="69151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A9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DA3FA-C253-4DFC-8972-4495EE25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810000"/>
            <a:ext cx="609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创新性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97401-BE59-426D-AF98-BF1C4ED7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6482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6000"/>
              </a:lnSpc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C814B-E57F-4634-8809-6A804DE5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38675"/>
            <a:ext cx="69151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A9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DCFD5-78D8-4608-AC45-76F1F44F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705350"/>
            <a:ext cx="609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商业价值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A197F-F852-425D-8EFC-3E9C2BE7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3C08FF-73CE-417D-BBD2-1DF2DEBA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00800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6000"/>
              </a:lnSpc>
              <a:buNone/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智能终端操作系统根社区</a:t>
            </a:r>
          </a:p>
        </p:txBody>
      </p:sp>
    </p:spTree>
    <p:extLst>
      <p:ext uri="{BB962C8B-B14F-4D97-AF65-F5344CB8AC3E}">
        <p14:creationId xmlns:p14="http://schemas.microsoft.com/office/powerpoint/2010/main" val="16126851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AC253-8D28-470F-8BC6-04FCCC43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0144F-3EBB-4880-AB9C-44589E14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创作简介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6A74E-75D7-4DEA-95B2-35BEC423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"/>
            <a:ext cx="1476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rPr>
              <a:t>开放原子开源基金会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FEF85-D872-431D-8713-917A056F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"/>
            <a:ext cx="1476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OPENATOM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8CC32-3665-4445-9192-CAB2B377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80975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E7C63-BE40-4AC0-8DDF-1B9BC786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095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rPr>
              <a:t>OpenHarmony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91C7D-13A3-489C-8993-CC8963B7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6ECC9-C7F7-4D55-BBEE-8B36C8BB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103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6000"/>
              </a:lnSpc>
              <a:buNone/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智能终端操作系统根社区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3270C-036F-4817-9E8B-3820FAF8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66865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DEAD8-1D71-42CF-AADF-A717AF3D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3716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3FBFE"/>
          </a:solidFill>
          <a:ln xmlns:a="http://schemas.openxmlformats.org/drawingml/2006/main" w="9525">
            <a:solidFill>
              <a:srgbClr val="B7E6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CC610-68EB-40EF-8515-F17A320C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rPr>
              <a:t>团队简介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482BD-8B0C-45BD-AFCB-A47521C7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240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队长：潘孝涛　成员：刘庭毅、戴安信、朱宇辰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A51BD-79A0-498E-9FC6-83727758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4310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南京大学 · 软件工程　｜　指导老师：刘钦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A326F-FB62-4DA0-90C5-9240D7A4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4315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联系手机／微信：13976041549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9EA91-BDFC-4D08-9408-7A98C61E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11106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BB830-B2D7-4974-B002-30A55723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52775"/>
            <a:ext cx="21717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3FBFE"/>
          </a:solidFill>
          <a:ln xmlns:a="http://schemas.openxmlformats.org/drawingml/2006/main" w="9525">
            <a:solidFill>
              <a:srgbClr val="B7E6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BC114-5B29-4E65-B096-2AEDAF4F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rPr>
              <a:t>为什么做这款应用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783DD7-38BF-4684-BB37-C2F04EA1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38550"/>
            <a:ext cx="109347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GSAS-II 的原桌面界面依赖传统 Python GUI 栈，难以直接成为 HarmonyOS PC 应用。团队围绕实际科研流程，打通本地数据导入、五阶段粉末衍射精修、结果复核与文件导出，让已有开源科学计算能力在鸿蒙桌面上可用。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98C2D-3E37-4D87-B62D-D8B237F1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53352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3FBFE"/>
          </a:solidFill>
          <a:ln xmlns:a="http://schemas.openxmlformats.org/drawingml/2006/main" w="9525">
            <a:solidFill>
              <a:srgbClr val="B7E6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DB8BD-1DB0-408C-8E05-B149FAA9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38725"/>
            <a:ext cx="1304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rPr>
              <a:t>一句话亮点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1BA55-0B3B-4714-B174-1D82CB7F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19725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9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将真实 GSAS-II 精修核心带到 HarmonyOS PC，形成可复核、可导出的科研工作流。</a:t>
            </a:r>
          </a:p>
        </p:txBody>
      </p:sp>
    </p:spTree>
    <p:extLst>
      <p:ext uri="{BB962C8B-B14F-4D97-AF65-F5344CB8AC3E}">
        <p14:creationId xmlns:p14="http://schemas.microsoft.com/office/powerpoint/2010/main" val="6060816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E1A996-9842-4FFF-B814-4AEDAB09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EE7BE-CBDE-4A02-AD80-1A373C07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应用核心功能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D1688-593E-4488-8EB6-8085580E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"/>
            <a:ext cx="1476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rPr>
              <a:t>开放原子开源基金会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605BB-C1EA-4122-8667-241638D8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"/>
            <a:ext cx="1476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OPENATOM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C4479-B5D1-42AE-9CF8-9404A76F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80975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2E669-BCE1-49D8-8EA6-2A9186AD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095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rPr>
              <a:t>OpenHarmony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E9715-7491-4A00-8D9D-106908FD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EA198-5762-497D-86B4-17452066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103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6000"/>
              </a:lnSpc>
              <a:buNone/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智能终端操作系统根社区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F7775-7E38-4267-A812-B8878F47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66865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5A2A7-E5AD-4C79-97A8-39F8396B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已验证的 PbSO₄ 工作流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CB282-1F21-4404-9097-5DC3E3BD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8592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01  本地导入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50744-A60E-4C9D-A510-5A3D84A5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38350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系统选择器导入五份输入，核验后持久保存。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47D12-5989-47E7-936B-D29A4C9E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69557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02  真实精修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620C4-4EC0-4866-A974-E376316B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048000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执行 X 射线与中子五阶段精修，支持取消。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CA96C-C627-4A2F-A306-C0620C79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70522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03  结果与导出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3F1F2-CD6D-4F5F-BF3B-D4427FD9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057650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查看 Rwp 与取向结果；导出 GPX、JSON 和日志。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D90C25-4018-47EE-A576-6405FC7C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71487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04  任务恢复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2C12FD-DC9B-4EB9-A3BF-F01478A3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067300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退出重启恢复成功结果；失败、取消有日志。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9E2AD-2BDB-439F-BCDE-93262FD6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428750"/>
            <a:ext cx="61531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E6F5"/>
            </a:solidFill>
            <a:prstDash val="solid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4B6359-BF29-413C-831E-A22EBC3CFD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36b00539e469b"/>
          <a:srcRect xmlns:a="http://schemas.openxmlformats.org/drawingml/2006/main" l="16000" t="13000" r="16000" b="21000"/>
          <a:stretch xmlns:a="http://schemas.openxmlformats.org/drawingml/2006/main"/>
        </p:blipFill>
        <p:spPr>
          <a:xfrm xmlns:a="http://schemas.openxmlformats.org/drawingml/2006/main">
            <a:off x="5476875" y="1524000"/>
            <a:ext cx="5962650" cy="3781425"/>
          </a:xfrm>
          <a:prstGeom xmlns:a="http://schemas.openxmlformats.org/drawingml/2006/main" prst="roundRect">
            <a:avLst>
              <a:gd name="adj" fmla="val 3023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302F1D-B562-4140-8510-9AC1CBCF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324475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真机结果页：五阶段精修与三类产物入口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0C333-B4D5-4CD8-AC57-08E8CF0C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0769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范围：HAD-W32 / API 23 / PbSO₄ 样例</a:t>
            </a:r>
          </a:p>
        </p:txBody>
      </p:sp>
    </p:spTree>
    <p:extLst>
      <p:ext uri="{BB962C8B-B14F-4D97-AF65-F5344CB8AC3E}">
        <p14:creationId xmlns:p14="http://schemas.microsoft.com/office/powerpoint/2010/main" val="10320501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B1010C-C56B-4AAF-8EFC-EC8EE1B3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1522A-B119-4C4D-9FCD-A5035A94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创新性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658BE-DDE2-417D-86CD-FF2379E0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"/>
            <a:ext cx="1476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rPr>
              <a:t>开放原子开源基金会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7B1DC-01E5-420B-BE5C-A21DA2D2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"/>
            <a:ext cx="1476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OPENATOM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5FCC6-C1CA-46D0-B00E-24B3A34B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80975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1C27B-510F-4AB4-9EA5-FB5AAFCB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095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rPr>
              <a:t>OpenHarmony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1F42B-9F2C-4CD5-B38A-1767D863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FBEF6-2A55-4C54-9CB6-D49EBD26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103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6000"/>
              </a:lnSpc>
              <a:buNone/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智能终端操作系统根社区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36478-197F-49B1-9898-EF6A5146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66865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895CB-816C-4502-AC94-B723A878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22479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3FBFE"/>
          </a:solidFill>
          <a:ln xmlns:a="http://schemas.openxmlformats.org/drawingml/2006/main" w="9525">
            <a:solidFill>
              <a:srgbClr val="B7E6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C0F427-C066-4AF7-ABDB-D30D3914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rPr>
              <a:t>体验的创新与提升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1CDB9F-45FC-446F-8C44-D83118D2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62100"/>
            <a:ext cx="2352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完整本地链路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03B5A-6277-4421-9F0D-B7961B4D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543050"/>
            <a:ext cx="8505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从输入关联、五阶段精修到结果/日志导出均在 PC 应用内完成。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224D8-960F-488C-9967-BB8804EA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81250"/>
            <a:ext cx="2352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可复核的数值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A9391-7361-4398-B203-E4D966CB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62200"/>
            <a:ext cx="8505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真机结果页 12 项数值与独立 Windows 基线按既定容差比较，12/12 通过。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3DF6D-B0F7-4221-8EE2-02DC516D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00400"/>
            <a:ext cx="2352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任务可恢复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9F2A3D-77C9-4A5D-B9AE-C427B4BF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81350"/>
            <a:ext cx="8505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升级保留旧数据，正常退出后恢复成功结果；失败与取消日志可见。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B219A2-5C0F-428E-A2DD-261076AA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105275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8CBD2-B143-49B8-AD4E-F1574287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52925"/>
            <a:ext cx="19621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3FBFE"/>
          </a:solidFill>
          <a:ln xmlns:a="http://schemas.openxmlformats.org/drawingml/2006/main" w="9525">
            <a:solidFill>
              <a:srgbClr val="B7E6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51387-7EFE-4EBB-9C68-873AEBA3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rPr>
              <a:t>接入的鸿蒙特性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7B1452-FE56-458D-BB31-DBF904C6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29200"/>
            <a:ext cx="2276475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F3FBFE"/>
          </a:solidFill>
          <a:ln xmlns:a="http://schemas.openxmlformats.org/drawingml/2006/main" w="14288">
            <a:solidFill>
              <a:srgbClr val="16A9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06AC52-CF81-4E79-A9C8-39182C0A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rPr>
              <a:t>ArkUI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A2A201-DBED-4CBF-8C5E-88724619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2066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桌面交互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2CDD55-91CA-4B18-BBC7-3198B178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172075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884ACB-CF7C-4675-8561-75EB4991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029200"/>
            <a:ext cx="2276475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F3FBFE"/>
          </a:solidFill>
          <a:ln xmlns:a="http://schemas.openxmlformats.org/drawingml/2006/main" w="14288">
            <a:solidFill>
              <a:srgbClr val="16A9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C9CCD7-3CD9-4F25-8F37-0829438C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2445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rPr>
              <a:t>C++ N-API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CB5E28-6967-453C-872F-C3008683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10200"/>
            <a:ext cx="2066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原生桥接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59FC4D-6039-4120-B83C-01E7D496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172075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766059-3652-4BCC-AB5C-47E7B5EB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29200"/>
            <a:ext cx="2276475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F3FBFE"/>
          </a:solidFill>
          <a:ln xmlns:a="http://schemas.openxmlformats.org/drawingml/2006/main" w="14288">
            <a:solidFill>
              <a:srgbClr val="16A9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E6BB50-80FF-453C-BC47-1DC34F08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2445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rPr>
              <a:t>CPython 3.12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C2E2B4-EE8D-4B6F-A21F-3E94CB71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410200"/>
            <a:ext cx="2066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沙箱运行时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92F04A-1EAD-4FAC-A952-86748187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172075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A57BB7-664F-4DD8-86E9-41AEC16E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029200"/>
            <a:ext cx="2276475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F3FBFE"/>
          </a:solidFill>
          <a:ln xmlns:a="http://schemas.openxmlformats.org/drawingml/2006/main" w="14288">
            <a:solidFill>
              <a:srgbClr val="16A9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6247AF-2614-48CA-A976-6781768A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2445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9FE1"/>
                </a:solidFill>
                <a:latin typeface="Microsoft YaHei"/>
                <a:ea typeface="Microsoft YaHei"/>
                <a:cs typeface="Microsoft YaHei"/>
              </a:rPr>
              <a:t>GSAS-II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2E8E8B-23E1-49D2-BBE1-46A30B60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10200"/>
            <a:ext cx="2066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科学计算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A5ADF9-F336-481A-9440-A114A7D4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完整载荷包含 8 个 aarch64 原生扩展，无需用户另装 Python。</a:t>
            </a:r>
          </a:p>
        </p:txBody>
      </p:sp>
    </p:spTree>
    <p:extLst>
      <p:ext uri="{BB962C8B-B14F-4D97-AF65-F5344CB8AC3E}">
        <p14:creationId xmlns:p14="http://schemas.microsoft.com/office/powerpoint/2010/main" val="9719601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01763D-C305-40A9-BA73-8B27C5BA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6DBF3-DBD4-4F4D-9BFB-88B3DE1F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商业价值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E5A05-090D-4198-91FB-7E1B058F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"/>
            <a:ext cx="1476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rPr>
              <a:t>开放原子开源基金会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17BE8-9027-4863-AE2C-07CEA3E0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"/>
            <a:ext cx="1476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OPENATOM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583A4-EADE-441C-8072-D145F1DE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80975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22F02-967A-4CB2-B194-E069B38C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095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rPr>
              <a:t>OpenHarmony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6D706-12E4-41C9-970C-B1AAAC65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E9AFE-28C3-46F9-ADD1-64C31C72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103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6000"/>
              </a:lnSpc>
              <a:buNone/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智能终端操作系统根社区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8DC0D-F93F-4787-86AB-776182BF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66865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18946-9C64-42E8-943C-11ACA7FE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061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E6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35429-2CA2-4C5E-AE33-330EEC81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857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A5A19-4593-49CF-B3DC-82F9D092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95425"/>
            <a:ext cx="2143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用户范围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33084-3F47-4600-8734-2F50A682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66850"/>
            <a:ext cx="8524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面向材料、化学、物理等领域中需要粉末衍射结构分析的科研和教学人员。当前验证样例为 PbSO₄，尚不覆盖任意样品。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D2F2C2-E53F-4A1C-AF64-E44D299E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0825"/>
            <a:ext cx="111061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E6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37741A-9E24-4D9A-B24D-7FA01897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0825"/>
            <a:ext cx="857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3C7788-6219-4279-A9A6-F73605A0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2143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用户反馈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AE7CC-B523-4160-B1C9-9879408A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33700"/>
            <a:ext cx="8524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已完成 HAD-W32 / API 23 真机工作流验证与研发组内验收；公开上架审核和真实外部用户反馈尚未形成，不虚报下载量。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0FED7-FB5A-4DCB-AD94-1A1A7373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57675"/>
            <a:ext cx="111061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E6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774BF6-D6F7-4AE7-B878-64EB65B3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57675"/>
            <a:ext cx="857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52D961-8B60-462C-A7BF-FC418473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2143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潜力与路径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D7F5A7-65F6-4C09-9C20-2CF10164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00550"/>
            <a:ext cx="8524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以免费开源方式降低鸿蒙桌面获取科学计算工具的门槛；后续可逐步扩展样品、设备和 API 范围，再形成可量化使用反馈。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3181F-1390-4FD7-954B-95509D68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53125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当前版本 0.1.3 · 免费 · 非官方移植 · 公共分发仍以平台审核为准</a:t>
            </a:r>
          </a:p>
        </p:txBody>
      </p:sp>
    </p:spTree>
    <p:extLst>
      <p:ext uri="{BB962C8B-B14F-4D97-AF65-F5344CB8AC3E}">
        <p14:creationId xmlns:p14="http://schemas.microsoft.com/office/powerpoint/2010/main" val="9057467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8170F0-FD70-4779-9F52-F63DE235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B9604-13A2-49FE-8038-86B52AC5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工程验证与开源交付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3B16A-840D-42AB-957E-0FE46611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"/>
            <a:ext cx="1476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5222E"/>
                </a:solidFill>
                <a:latin typeface="Microsoft YaHei"/>
                <a:ea typeface="Microsoft YaHei"/>
                <a:cs typeface="Microsoft YaHei"/>
              </a:rPr>
              <a:t>开放原子开源基金会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60449-9BB4-4E20-84FE-98CB898A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"/>
            <a:ext cx="1476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OPENATOM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FFA6B-0DFE-41CB-9BD4-AB14A62B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80975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47B32-E147-429B-973E-1F73C6B1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095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6B48D"/>
                </a:solidFill>
                <a:latin typeface="Microsoft YaHei"/>
                <a:ea typeface="Microsoft YaHei"/>
                <a:cs typeface="Microsoft YaHei"/>
              </a:rPr>
              <a:t>OpenHarmony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EF627-E4BF-4322-B072-8C1B1873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C22FB-007D-42C2-A362-C5F9335F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103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6000"/>
              </a:lnSpc>
              <a:buNone/>
              <a:def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智能终端操作系统根社区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AFFCE-9156-4771-A3B0-C29F871F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66865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91D1B-D143-4EBB-B29E-1984CEE4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0668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一套真实设备、一个明确范围、一条可追溯的证据链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658C9-92AB-43E9-B10E-3E2A0CFA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3476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3FBFE"/>
          </a:solidFill>
          <a:ln xmlns:a="http://schemas.openxmlformats.org/drawingml/2006/main" w="14288">
            <a:solidFill>
              <a:srgbClr val="B7E6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BEB4E-43B6-4E46-9F38-1FA681DA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3133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8.76 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663CF-90A3-419C-9CF9-8BE2A0AB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3171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PbSO₄ 真机五阶段精修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054AD-88E7-466E-97CA-3645BED0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71650"/>
            <a:ext cx="3476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3FBFE"/>
          </a:solidFill>
          <a:ln xmlns:a="http://schemas.openxmlformats.org/drawingml/2006/main" w="14288">
            <a:solidFill>
              <a:srgbClr val="B7E6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D386A-5FC1-4432-8A04-A4A7FAAB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43100"/>
            <a:ext cx="3133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BD91D-484C-4E71-A193-6D5DA2FB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33650"/>
            <a:ext cx="3171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页面数值与 Windows 基线比较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89FF4-AC3E-4848-94CC-72B0E1A6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71650"/>
            <a:ext cx="3476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3FBFE"/>
          </a:solidFill>
          <a:ln xmlns:a="http://schemas.openxmlformats.org/drawingml/2006/main" w="14288">
            <a:solidFill>
              <a:srgbClr val="B7E6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9388D-F77D-432A-AAEE-F534A127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133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A9E8"/>
                </a:solidFill>
                <a:latin typeface="Microsoft YaHei"/>
                <a:ea typeface="Microsoft YaHei"/>
                <a:cs typeface="Microsoft YaHei"/>
              </a:rPr>
              <a:t>3 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E43FCD-5A1D-46B2-9672-8E1101CE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33650"/>
            <a:ext cx="3171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GPX / JSON / 日志可保存与发现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1E58A-72BB-4DEB-A805-B454A41122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fdea846834da4"/>
          <a:srcRect xmlns:a="http://schemas.openxmlformats.org/drawingml/2006/main" l="15500" t="11000" r="15500" b="53000"/>
          <a:stretch xmlns:a="http://schemas.openxmlformats.org/drawingml/2006/main"/>
        </p:blipFill>
        <p:spPr>
          <a:xfrm xmlns:a="http://schemas.openxmlformats.org/drawingml/2006/main">
            <a:off x="542925" y="3495675"/>
            <a:ext cx="4743450" cy="2295525"/>
          </a:xfrm>
          <a:prstGeom xmlns:a="http://schemas.openxmlformats.org/drawingml/2006/main" prst="roundRect">
            <a:avLst>
              <a:gd name="adj" fmla="val 4979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0B0351-2E0F-48F4-8B93-A274FBA9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系统本机搜索显示“晶衍精析”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64B0EA-99EB-457E-9E34-3206847A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43325"/>
            <a:ext cx="55435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源码、签名包、设备 HAP、许可与 SBOM 均有版本/哈希记录。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553389-BAED-49B9-BD33-ECE91FBF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572000"/>
            <a:ext cx="5486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限定技术门禁：HAD-W32 / API 23 已通过；公开分发仍等待平台决定。</a:t>
            </a:r>
          </a:p>
        </p:txBody>
      </p:sp>
    </p:spTree>
    <p:extLst>
      <p:ext uri="{BB962C8B-B14F-4D97-AF65-F5344CB8AC3E}">
        <p14:creationId xmlns:p14="http://schemas.microsoft.com/office/powerpoint/2010/main" val="3791132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6A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1E2F8-3668-4ECD-9DEA-084CEBDC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24125"/>
            <a:ext cx="58674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6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6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6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6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6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6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6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6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6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6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6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  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B7875-ADA2-4FFB-A0BE-8D3317C7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晶衍精析 · HarmonyOS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2C626-B1D5-4DF0-91B0-FC530F5E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00750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github.com/xiaotaop/ohos_gsas-ii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3638C-22BE-4E8D-BE70-46FA2727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112574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2026-10-26T15:47:47.3130000Z</dcterms:created>
  <dcterms:modified xsi:type="dcterms:W3CDTF">2026-10-26T15:47:47.3130000Z</dcterms:modified>
</coreProperties>
</file>